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D1C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173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FIN DE MÁSTER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entornos virtualizados por malware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96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de evasión ambiental: fundamento, demostración práctica y contramedidas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" y="3794760"/>
            <a:ext cx="2011680" cy="0"/>
          </a:xfrm>
          <a:prstGeom prst="line">
            <a:avLst/>
          </a:prstGeom>
          <a:noFill/>
          <a:ln w="12700">
            <a:solidFill>
              <a:srgbClr val="2431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9776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María Sonia Salido Fernández</a:t>
            </a:r>
            <a:pPr indent="0" marL="0">
              <a:buNone/>
            </a:pPr>
            <a:r>
              <a:rPr lang="en-US" sz="1300" dirty="0">
                <a:solidFill>
                  <a:srgbClr val="96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·   Máster en Análisis de Malware y Reversing — ENIIT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2793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6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Tutor: David García   ·   7ª Edición   ·   Agosto de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D1C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21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TFM · Detección de entornos virtualizados por malware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vamos a ver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6400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1600200"/>
            <a:ext cx="3291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y motivación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350008"/>
            <a:ext cx="6400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97280" y="2350008"/>
            <a:ext cx="3291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del arte y marco conceptual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3099816"/>
            <a:ext cx="6400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97280" y="3099816"/>
            <a:ext cx="3291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Objetivos, alcance y limitaciones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3849624"/>
            <a:ext cx="6400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97280" y="3849624"/>
            <a:ext cx="3291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y laboratorio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54880" y="1600200"/>
            <a:ext cx="6400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394960" y="1600200"/>
            <a:ext cx="3291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Taxonomía de 15 familias de evasión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54880" y="2350008"/>
            <a:ext cx="6400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394960" y="2350008"/>
            <a:ext cx="3291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prácticos de demostración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54880" y="3099816"/>
            <a:ext cx="6400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394960" y="3099816"/>
            <a:ext cx="3291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Resultados, discusión y contramedidas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754880" y="3849624"/>
            <a:ext cx="6400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394960" y="3849624"/>
            <a:ext cx="3291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líneas futuras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D1C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Y MOTIVACIÓN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TFM · Detección de entornos virtualizados por malware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propio laboratorio se convierte en una fuente de información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52120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análisis dinámico se ejecuta en máquinas virtuales y sandboxes para reducir riesgos.</a:t>
            </a:r>
            <a:endParaRPr lang="en-US" sz="14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Hipervisores, guest tools y entornos automatizados dejan huellas explícitas: drivers, servicios, cadenas de fabricante, prefijos MAC.</a:t>
            </a:r>
            <a:endParaRPr lang="en-US" sz="14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También dejan huellas indirectas: poca memoria, un único procesador, ausencia de actividad humana, alteraciones del tiempo.</a:t>
            </a:r>
            <a:endParaRPr lang="en-US" sz="14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malware puede combinar estas señales para decidir si revela su comportamiento real.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89320" y="1691640"/>
            <a:ext cx="2697480" cy="2788920"/>
          </a:xfrm>
          <a:prstGeom prst="rect">
            <a:avLst/>
          </a:prstGeom>
          <a:solidFill>
            <a:srgbClr val="121A2B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196596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6263640" y="28803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96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familias de técnicas de evasión ambiental analizadas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63640" y="3749040"/>
            <a:ext cx="2148840" cy="0"/>
          </a:xfrm>
          <a:prstGeom prst="line">
            <a:avLst/>
          </a:prstGeom>
          <a:noFill/>
          <a:ln w="12700">
            <a:solidFill>
              <a:srgbClr val="2431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38404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modulo-evasion/ del repositorio del proyecto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D1C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TFM · Detección de entornos virtualizados por malware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API aislada no demuestra evasión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2331720" cy="914400"/>
          </a:xfrm>
          <a:prstGeom prst="rect">
            <a:avLst/>
          </a:prstGeom>
          <a:solidFill>
            <a:srgbClr val="121A2B"/>
          </a:solidFill>
          <a:ln w="15875">
            <a:solidFill>
              <a:srgbClr val="4FD1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002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u observación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2788920" y="160020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291840" y="1600200"/>
            <a:ext cx="2331720" cy="914400"/>
          </a:xfrm>
          <a:prstGeom prst="rect">
            <a:avLst/>
          </a:prstGeom>
          <a:solidFill>
            <a:srgbClr val="121A2B"/>
          </a:solidFill>
          <a:ln w="15875">
            <a:solidFill>
              <a:srgbClr val="4FD1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6002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recuperado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623560" y="160020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126480" y="1600200"/>
            <a:ext cx="2331720" cy="914400"/>
          </a:xfrm>
          <a:prstGeom prst="rect">
            <a:avLst/>
          </a:prstGeom>
          <a:solidFill>
            <a:srgbClr val="121A2B"/>
          </a:solidFill>
          <a:ln w="15875">
            <a:solidFill>
              <a:srgbClr val="4FD1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6002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del flujo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7200" y="2880360"/>
            <a:ext cx="8229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–"/>
            </a:pPr>
            <a:r>
              <a:rPr lang="en-US" sz="14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resultado negativo en sandbox no prueba que la muestra sea inocua: puede indicar que el entorno fue detectado antes de activar el payload.</a:t>
            </a:r>
            <a:endParaRPr lang="en-US" sz="14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–"/>
            </a:pPr>
            <a:r>
              <a:rPr lang="en-US" sz="14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GetAdaptersAddresses es una API legítima; se convierte en comprobación anti-VM cuando la dirección obtenida se compara con un OUI de virtualización y el resultado activa una rama.</a:t>
            </a:r>
            <a:endParaRPr lang="en-US" sz="14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–"/>
            </a:pPr>
            <a:r>
              <a:rPr lang="en-US" sz="14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memoria solo considera demostrada una técnica cuando existe evidencia de los tres eslabones anteriores.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D1C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DEL ARTE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TFM · Detección de entornos virtualizados por malware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3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marco: MITRE ATT&amp;CK T1497 — Virtualization/Sandbox Evasion</a:t>
            </a:r>
            <a:endParaRPr lang="en-US" sz="2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651760"/>
                <a:gridCol w="3657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Subtécnica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 central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Familias relacionadas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4FD1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T1497.001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4FD1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Checks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Consultas al sistema y búsqueda de artefactos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6A2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Filesystem, Registry, Processes, WMI, CPU, Hardware, Global OS objects, Firmware, Generic queries, Hooks, Network, UI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4FD1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T1497.002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4FD1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Activity Based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Evidencias de uso humano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6A2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interaction, UI artifacts, historial y actividad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4FD1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T1497.003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4FD1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Based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Retardos y mediciones temporales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6A2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Timing, uptime y comparaciones de relojes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complementaria: Check Point Evasion Encyclopedia (métodos, ejemplos, firmas y contramedidas).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D1C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DEL ARTE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TFM · Detección de entornos virtualizados por malware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formas de inferencia, dos niveles de evidencia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3931920" cy="2011680"/>
          </a:xfrm>
          <a:prstGeom prst="rect">
            <a:avLst/>
          </a:prstGeom>
          <a:solidFill>
            <a:srgbClr val="121A2B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83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observable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96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un artefacto concreto: VBoxGuest.sys, una clave de Guest Additions, VBoxVBoxVBox o VBoxTrayToolWndClass.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96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específica, pero se neutraliza eliminando o renombrando el artefacto.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600200"/>
            <a:ext cx="3931920" cy="2011680"/>
          </a:xfrm>
          <a:prstGeom prst="rect">
            <a:avLst/>
          </a:prstGeom>
          <a:solidFill>
            <a:srgbClr val="121A2B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783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deductiva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937760" y="2194560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96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 un valor o comportamiento: poca RAM, tiempo de actividad reducido, ausencia de clics, latencia anómala.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96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flexible, aunque produce más falsos positivos.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675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práctica, las implementaciones combinan ambas.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96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Pafish y al-khaser son PoC educativas (no malware) usadas para validar el laboratorio. Herramientas autocontenidas — timing_lab, inline_hook_lab, network_lab, ui_windows_lab — aíslan una técnica y reducen el ruido al comparar un estado de referencia frente a otro alterado.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D1C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TFM · Detección de entornos virtualizados por malware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5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 y preguntas de investigación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8229600" cy="1051560"/>
          </a:xfrm>
          <a:prstGeom prst="rect">
            <a:avLst/>
          </a:prstGeom>
          <a:solidFill>
            <a:srgbClr val="16213A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373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i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experimentalmente técnicas de evasión utilizadas para identificar máquinas virtuales y entornos de análisis, demostrar su mecanismo de decisión y evaluar contramedidas defensivas y sus limitaciones.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PI1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05840" y="288036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artefactos permiten identificar con mayor claridad un entorno virtualizado?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326440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05840" y="326440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puede demostrarse que una consulta ambiental modifica realmente el flujo?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364845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PI3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05840" y="3648456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técnicas son directas y cuáles dependen de heurísticas?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403250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PI4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05840" y="4032504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contramedidas reducen la exposición del laboratorio y qué artefactos persisten?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441655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PI5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05840" y="441655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combinación de herramientas ofrece evidencia suficiente sin depender de malware real?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D1C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TFM · Detección de entornos virtualizados por malware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específicos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una taxonomía operativa de las técnicas incluidas en modulo-evasion/.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24688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APIs, instrucciones, artefactos y umbrales relevantes.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324612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32461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dinámicamente la relación entre consulta, resultado y cambio de flujo.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402336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40233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pruebas positivas y negativas cuando sea viable.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754880" y="169164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120640" y="16916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evidencias suficientes para que el análisis sea reproducible.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754880" y="246888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120640" y="24688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fiabilidad, falsos positivos y dificultad de mitigación.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754880" y="324612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120640" y="32461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la sanitización de una máquina VirtualBox frente a Pafish.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754880" y="402336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120640" y="40233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Proponer un procedimiento defensivo aplicable a muestras futuras.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D1C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TFM · Detección de entornos virtualizados por malware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Alcance, exclusiones y limitaciones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2679192" cy="3017520"/>
          </a:xfrm>
          <a:prstGeom prst="rect">
            <a:avLst/>
          </a:prstGeom>
          <a:solidFill>
            <a:srgbClr val="121A2B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28800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0080" y="2212848"/>
            <a:ext cx="2313432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6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familias del submódulo de evasión ambiental (modulo-evasion/): Filesystem, Registry, Processes, WMI, Timing, CPU, Hardware, Human interaction, Global OS objects, Firmware tables, Generic OS queries, Hooks, Network, OS features, UI artifacts.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73552" y="1645920"/>
            <a:ext cx="2679192" cy="3017520"/>
          </a:xfrm>
          <a:prstGeom prst="rect">
            <a:avLst/>
          </a:prstGeom>
          <a:solidFill>
            <a:srgbClr val="121A2B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56432" y="1828800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Exclusiones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456432" y="2212848"/>
            <a:ext cx="2313432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6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depuradores. Anti-análisis estático (packing, cifrado, polimorfismo, ofuscación). Persistencia, movimiento lateral, explotación o C2. Desarrollo de malware o capacidades ofensivas.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89904" y="1645920"/>
            <a:ext cx="2679192" cy="3017520"/>
          </a:xfrm>
          <a:prstGeom prst="rect">
            <a:avLst/>
          </a:prstGeom>
          <a:solidFill>
            <a:srgbClr val="121A2B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72784" y="1828800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F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272784" y="2212848"/>
            <a:ext cx="2313432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6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centradas en Windows + VirtualBox. Direcciones sujetas a ASLR. Pafish/al-khaser no sustituyen malware real. Un resultado positivo aislado no confirma virtualización.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D1C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TFM · Detección de entornos virtualizados por malware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del estudio: estudios de caso controlados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1965960" cy="868680"/>
          </a:xfrm>
          <a:prstGeom prst="rect">
            <a:avLst/>
          </a:prstGeom>
          <a:solidFill>
            <a:srgbClr val="121A2B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719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1993392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542032" y="1645920"/>
            <a:ext cx="1965960" cy="868680"/>
          </a:xfrm>
          <a:prstGeom prst="rect">
            <a:avLst/>
          </a:prstGeom>
          <a:solidFill>
            <a:srgbClr val="121A2B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1719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51760" y="1993392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estático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26864" y="1645920"/>
            <a:ext cx="1965960" cy="868680"/>
          </a:xfrm>
          <a:prstGeom prst="rect">
            <a:avLst/>
          </a:prstGeom>
          <a:solidFill>
            <a:srgbClr val="121A2B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36592" y="1719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36592" y="1993392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base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711696" y="1645920"/>
            <a:ext cx="1965960" cy="868680"/>
          </a:xfrm>
          <a:prstGeom prst="rect">
            <a:avLst/>
          </a:prstGeom>
          <a:solidFill>
            <a:srgbClr val="121A2B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21424" y="1719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21424" y="1993392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Instrumentación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2651760"/>
            <a:ext cx="1965960" cy="868680"/>
          </a:xfrm>
          <a:prstGeom prst="rect">
            <a:avLst/>
          </a:prstGeom>
          <a:solidFill>
            <a:srgbClr val="121A2B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27249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6928" y="2999232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Reconstrucción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542032" y="2651760"/>
            <a:ext cx="1965960" cy="868680"/>
          </a:xfrm>
          <a:prstGeom prst="rect">
            <a:avLst/>
          </a:prstGeom>
          <a:solidFill>
            <a:srgbClr val="121A2B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51760" y="27249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651760" y="2999232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Intervención controlada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626864" y="2651760"/>
            <a:ext cx="1965960" cy="868680"/>
          </a:xfrm>
          <a:prstGeom prst="rect">
            <a:avLst/>
          </a:prstGeom>
          <a:solidFill>
            <a:srgbClr val="121A2B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36592" y="27249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36592" y="2999232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711696" y="2651760"/>
            <a:ext cx="1965960" cy="868680"/>
          </a:xfrm>
          <a:prstGeom prst="rect">
            <a:avLst/>
          </a:prstGeom>
          <a:solidFill>
            <a:srgbClr val="121A2B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21424" y="27249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21424" y="2999232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3794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Criterio de demostración: </a:t>
            </a:r>
            <a:pPr indent="0" marL="0">
              <a:buNone/>
            </a:pPr>
            <a:r>
              <a:rPr lang="en-US" sz="1300" dirty="0">
                <a:solidFill>
                  <a:srgbClr val="96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u observación → dato recuperado → decisión del flujo.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Pruebas controladas: </a:t>
            </a:r>
            <a:pPr indent="0" marL="0">
              <a:buNone/>
            </a:pPr>
            <a:r>
              <a:rPr lang="en-US" sz="1300" dirty="0">
                <a:solidFill>
                  <a:srgbClr val="96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señuelo qemu-ga.exe, usuario "sandbox", omisión de Sleep, inline hook sintético.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D1C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TFM · Detección de entornos virtualizados por malware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5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de laboratorio y herramientas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6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x64 en VirtualBox  ·  snapshot previo  ·  red aislada/controlada  ·  sin datos personales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Ghidra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28800" y="2057400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96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Strings, referencias, flujo y constantes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624328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x32dbg / x64dbg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28800" y="2624328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96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Argumentos, buffers, registros, flags y saltos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191256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Monitor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28800" y="3191256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96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Accesos a archivos, Registro y procesos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3758184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Explorer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28800" y="3758184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96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Procesos, módulos y handles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325112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Regshot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828800" y="4325112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96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Diferencias de Registro entre estados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754880" y="205740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Monitor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26480" y="2057400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96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Trazado complementario de APIs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54880" y="2624328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26480" y="2624328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96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Preparación, inventario y contraste externo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754880" y="3191256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Wireshark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26480" y="3191256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96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red cuando procede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54880" y="3758184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Pafish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26480" y="3758184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96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exposición anti-VM y anti-sandbox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754880" y="4325112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al-khaser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26480" y="4325112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96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Demostraciones selectivas de familias de técnicas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D1C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TAXONOMÍA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TFM · Detección de entornos virtualizados por malware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Taxonomía de evasión — familias 1 a 8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2148840"/>
                <a:gridCol w="1417320"/>
                <a:gridCol w="30632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Señal principal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 demostrado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Filesystem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6A2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Archivos, rutas y nombres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FD1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6A2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Artefactos de VirtualBox (VBoxGuest.sys, VBoxMouse.sys...)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6A2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Claves y valores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FD1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6A2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Apertura y resolución de clave Guest Additions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6A2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Procesos y herramientas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FD1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6A2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Coincidencia con x64dbg.exe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6A2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Propiedades CIM/WMI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892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6A2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Win32_BIOS.SerialNumber = "0"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6A2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Retardos y relojes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0A4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Deductivo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6A2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Omisión controlada de Sleep(5000)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6A2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Identificadores e instrucciones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FD1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Obs./bajo nivel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6A2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CPUID devuelve VBoxVBoxVBox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6A2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Dispositivos y recursos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892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6A2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SCSI\DiskVBOX...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interaction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6A2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Ratón, teclado e inactividad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0A4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Deductivo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6A2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 lecturas de GetCursorPos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D1C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TAXONOMÍA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TFM · Detección de entornos virtualizados por malware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Taxonomía de evasión — familias 9 a 15</a:t>
            </a:r>
            <a:endParaRPr lang="en-US" sz="2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2148840"/>
                <a:gridCol w="1417320"/>
                <a:gridCol w="30632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Señal principal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 demostrado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OS objects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6A2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Objetos y rutas especiales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FD1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6A2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Apertura de \\.\VBoxMiniRdrDN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Firmware tables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6A2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SMBIOS y ACPI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FD1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6A2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Obtención de RawSMBIOSData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OS queries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6A2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Usuario, RAM, CPU, uptime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0A4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Deductivo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6A2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Usuario "SANDBOX"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Hooks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6A2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 e instrumentación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FD1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Obs./heurístico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6A2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Prólogo redirigido a un handler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6A2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MAC, adaptadores y configuración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892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6A2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 08:00:27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features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6A2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Capacidades y comportamiento del SO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892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6A2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Acceso a csrss.exe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 artifacts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6A2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Clases, títulos y nº de ventanas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892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6A2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VBoxTrayToolWndClass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0416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Solapamientos: las familias describen el origen de la señal, no compartimentos estancos — el disco se consulta por WMI o por APIs de almacenamiento, la MAC pertenece a red y hardware, y el uptime es consulta genérica o timing.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D1C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PRÁCTICOS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TFM · Detección de entornos virtualizados por malware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3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 &amp; Registry: artefactos que persisten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3931920" cy="3063240"/>
          </a:xfrm>
          <a:prstGeom prst="rect">
            <a:avLst/>
          </a:prstGeom>
          <a:solidFill>
            <a:srgbClr val="121A2B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83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3566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6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Comprueba drivers y ejecutables asociados a virtualización: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6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VBoxGuest.sys, VBoxMouse.sys, VBoxService.exe, vmmouse.sys, vmhgfs.sys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6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rutas de ejecución sospechosas: sample, malware, sandbox, analysis.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600200"/>
            <a:ext cx="3931920" cy="3063240"/>
          </a:xfrm>
          <a:prstGeom prst="rect">
            <a:avLst/>
          </a:prstGeom>
          <a:solidFill>
            <a:srgbClr val="121A2B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783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2148840"/>
            <a:ext cx="3566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6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con x64dbg: se traza RegOpenKeyExA sobre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6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HKLM\SOFTWARE\Oracle\VirtualBox Guest Additions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6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clave residual persiste incluso después de desinstalar las Guest Additions, generando un falso positivo persistente.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D1C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PRÁCTICOS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TFM · Detección de entornos virtualizados por malware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3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&amp; Timing: una señal explícita y una heurística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3931920" cy="3063240"/>
          </a:xfrm>
          <a:prstGeom prst="rect">
            <a:avLst/>
          </a:prstGeom>
          <a:solidFill>
            <a:srgbClr val="121A2B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83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3566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6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instrucción CPUID (leaf del hipervisor) devuelve la cadena de fabricante: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6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"VBoxVBoxVBox"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6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 de fuerza alta: depende del hipervisor, no de software invitado, y es difícil de falsificar sin modificarlo.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600200"/>
            <a:ext cx="3931920" cy="3063240"/>
          </a:xfrm>
          <a:prstGeom prst="rect">
            <a:avLst/>
          </a:prstGeom>
          <a:solidFill>
            <a:srgbClr val="121A2B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783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2148840"/>
            <a:ext cx="3566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6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Comprobación deductiva: Sleep(5000) combinado con lectura de contadores.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6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de control: se omite el Sleep y se compara el tiempo transcurrido.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6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retardo real muy inferior al esperado sugiere aceleración o instrumentación del entorno.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D1C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PRÁCTICOS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TFM · Detección de entornos virtualizados por malware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OS Objects: mutex_lab.cpp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6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educativa autocontenida que aísla el mecanismo de mutex global.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411480" cy="411480"/>
          </a:xfrm>
          <a:prstGeom prst="rect">
            <a:avLst/>
          </a:prstGeom>
          <a:solidFill>
            <a:srgbClr val="16213A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20574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CreateMutexW crea un mutex con nombre artificial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2606040"/>
            <a:ext cx="411480" cy="411480"/>
          </a:xfrm>
          <a:prstGeom prst="rect">
            <a:avLst/>
          </a:prstGeom>
          <a:solidFill>
            <a:srgbClr val="16213A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OpenMutexW intenta abrirlo desde otro proceso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411480" cy="411480"/>
          </a:xfrm>
          <a:prstGeom prst="rect">
            <a:avLst/>
          </a:prstGeom>
          <a:solidFill>
            <a:srgbClr val="16213A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05840" y="31546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 según GetLastError()==ERROR_ALREADY_EXISTS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794760"/>
            <a:ext cx="8229600" cy="914400"/>
          </a:xfrm>
          <a:prstGeom prst="rect">
            <a:avLst/>
          </a:prstGeom>
          <a:solidFill>
            <a:srgbClr val="16213A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9319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Observado con x64dbg: argumento (nombre del mutex), valor de retorno (handle) y salto condicional según el resultado. Demuestra de forma aislada y reproducible la cadena consulta → dato → decisión.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D1C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PRÁCTICOS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TFM · Detección de entornos virtualizados por malware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Hooks, Network &amp; UI Artifacts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2679192" cy="3017520"/>
          </a:xfrm>
          <a:prstGeom prst="rect">
            <a:avLst/>
          </a:prstGeom>
          <a:solidFill>
            <a:srgbClr val="121A2B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2880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23134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6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compara el prólogo real de una función frente al esperado. Un salto (JMP) redirigido a un handler externo revela un inline hook sintético — evidencia de instrumentación.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73552" y="1645920"/>
            <a:ext cx="2679192" cy="3017520"/>
          </a:xfrm>
          <a:prstGeom prst="rect">
            <a:avLst/>
          </a:prstGeom>
          <a:solidFill>
            <a:srgbClr val="121A2B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56432" y="182880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456432" y="2194560"/>
            <a:ext cx="23134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6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prefijo OUI de la dirección MAC identifica adaptadores virtuales: 08:00:27 corresponde a VirtualBox.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89904" y="1645920"/>
            <a:ext cx="2679192" cy="3017520"/>
          </a:xfrm>
          <a:prstGeom prst="rect">
            <a:avLst/>
          </a:prstGeom>
          <a:solidFill>
            <a:srgbClr val="121A2B"/>
          </a:solidFill>
          <a:ln w="12700">
            <a:solidFill>
              <a:srgbClr val="2431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72784" y="182880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artifacts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272784" y="2194560"/>
            <a:ext cx="23134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6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FindWindowW busca la clase VBoxTrayToolWndClass. Un HWND válido confirma la presencia de VBoxTray / Guest Additions activas.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D1C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TFM · Detección de entornos virtualizados por malware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comparados: evidencia y fuerza por familia</a:t>
            </a:r>
            <a:endParaRPr lang="en-US" sz="2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39319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463040"/>
                <a:gridCol w="9144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Fuerza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Filesystem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6A2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A8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Media-alta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6A2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A8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Media-alta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6A2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Positivo controlado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0A4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6A2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0A4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6A2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Positivo controlado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0A4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6A2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FD1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6A2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FD1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interaction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6A2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Rama no sospechosa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892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508760"/>
          <a:ext cx="39319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463040"/>
                <a:gridCol w="9144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Fuerza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OS objects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6A2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Mecanismo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C67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Firmware tables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6A2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FD1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OS queries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6A2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Heurístico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892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Hooks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6A2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Positivo controlado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0A4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6A2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A8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Media-alta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features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6A2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reproducido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C67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 artifacts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6A2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0A4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D1C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DISCUSIÓN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TFM · Detección de entornos virtualizados por malware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Claves interpretativas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artefacto no equivale a una conclusión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66420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96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 evaluarse en contexto: Hyper-V puede estar activo en un equipo físico; un equipo puede tener poca RAM de forma legítima.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Coherencia entre fuentes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25856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96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fabricante físico en WMI junto con firmware VirtualBox forma una contradicción que delata una sanitización parcial.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de la intervención controlada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85292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96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una única variable y mantener el resto constante demuestra causalidad, no solo correlación.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2004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Instrumentación frente a transparencia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44728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96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Observar desde dentro introduce artefactos: los breakpoints alteran el tiempo, los hooks modifican código.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794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Validez del enfoque educativo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0416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96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PoC aíslan mecanismos sin manejar cargas maliciosas; el patrón se transfiere después a muestras reales.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D1C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CONTRAMEDIDAS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TFM · Detección de entornos virtualizados por malware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5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sanitización por capas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186537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96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Nombres de usuario/equipo plausibles, dominio y perfil coherente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457200" y="224942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2468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96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RAM, CPU, disco, resolución, monitores y uptime realistas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457200" y="285292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Hipervisor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307238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96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firmas CPUID/DMI cuando la plataforma lo permita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457200" y="345643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tools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36758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96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Retirar componentes no imprescindibles o separar perfiles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457200" y="405993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Archivos/Registro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42793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96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Limpiar artefactos y comprobar su regeneración al arrancar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4754880" y="164592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Firmware/dispositivos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754880" y="186537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96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Normalizar SMBIOS, ACPI y PnP de forma coherente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4754880" y="224942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754880" y="2468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96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MAC, adaptador, gateway y DNS/DHCP no evidentes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4754880" y="285292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754880" y="307238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96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Historial, documentos, ventanas e interacción contextual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4754880" y="345643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Observación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754880" y="36758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96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Instrumentación discreta y comparación entre ejecuciones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4754880" y="405993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754880" y="42793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96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Varios hipervisores y, cuando sea seguro, una referencia física</a:t>
            </a:r>
            <a:endParaRPr lang="en-US" sz="108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D1C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CONTRAMEDIDAS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TFM · Detección de entornos virtualizados por malware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 de sanitización con Pafish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3931920" cy="3063240"/>
          </a:xfrm>
          <a:prstGeom prst="rect">
            <a:avLst/>
          </a:prstGeom>
          <a:solidFill>
            <a:srgbClr val="121A2B"/>
          </a:solidFill>
          <a:ln w="15875">
            <a:solidFill>
              <a:srgbClr val="E079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83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3566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6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VirtualBox detectable por múltiples señales: drivers y Guest Additions, procesos, Registro, MAC 08:00:27, CPUID, ACPI, SCSI, WMI y firmware.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6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Múltiples detecciones "traced!" en la consola de pafish64.exe.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600200"/>
            <a:ext cx="3931920" cy="3063240"/>
          </a:xfrm>
          <a:prstGeom prst="rect">
            <a:avLst/>
          </a:prstGeom>
          <a:solidFill>
            <a:srgbClr val="121A2B"/>
          </a:solidFill>
          <a:ln w="15875">
            <a:solidFill>
              <a:srgbClr val="4FD1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783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2148840"/>
            <a:ext cx="3566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6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 aplicadas: desinstalación de Guest Additions, limpieza de claves residuales, ajuste de DMI/CPUID, cambio de MAC, retirada de dispositivos PnP/WMI y reescritura de HKLM\HARDWARE\DESCRIPTION\System (con tarea de inicio para reaplicar el estado).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6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reducción notable de detecciones; persisten sobre todo las de timing.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D1C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TFM · Detección de entornos virtualizados por malware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líneas futuras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51206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evasión anti-VM es un problema de perfil ambiental, no de una única API.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señales explícitas de VirtualBox (CPUID, discos, objetos, firmware, MAC, ventanas) fueron las más claras.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heurísticas de tiempo, recursos e interacción aportan flexibilidad, pero requieren umbrales y correlación.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pruebas positivas y negativas controladas mejoran la reproducibilidad.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sanitización reduce artefactos, pero VirtualBox estándar mantiene diferencias difíciles de ocultar, sobre todo en timing.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806440" y="1600200"/>
            <a:ext cx="0" cy="3337560"/>
          </a:xfrm>
          <a:prstGeom prst="line">
            <a:avLst/>
          </a:prstGeom>
          <a:noFill/>
          <a:ln w="12700">
            <a:solidFill>
              <a:srgbClr val="2431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89320" y="155448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Líneas futuras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989320" y="1874520"/>
            <a:ext cx="2697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–"/>
            </a:pPr>
            <a:r>
              <a:rPr lang="en-US" sz="1100" dirty="0">
                <a:solidFill>
                  <a:srgbClr val="96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 la rama sin movimiento de Human interaction.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–"/>
            </a:pPr>
            <a:r>
              <a:rPr lang="en-US" sz="1100" dirty="0">
                <a:solidFill>
                  <a:srgbClr val="96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OS features con perfiles Windows/Wine equivalentes.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–"/>
            </a:pPr>
            <a:r>
              <a:rPr lang="en-US" sz="1100" dirty="0">
                <a:solidFill>
                  <a:srgbClr val="96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Ampliar la matriz a VMware, Hyper-V y un equipo físico de referencia.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–"/>
            </a:pPr>
            <a:r>
              <a:rPr lang="en-US" sz="1100" dirty="0">
                <a:solidFill>
                  <a:srgbClr val="96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Automatizar la captura de configuración, hashes y diferencias antes/después.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89320" y="44805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— María Sonia Salido Fernández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2026-08-31T16:32:30Z</dcterms:created>
  <dcterms:modified xsi:type="dcterms:W3CDTF">2026-08-31T16:32:30Z</dcterms:modified>
</cp:coreProperties>
</file>