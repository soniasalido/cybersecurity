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59" r:id="rId6"/>
    <p:sldId id="260" r:id="rId7"/>
    <p:sldId id="261" r:id="rId8"/>
    <p:sldId id="264" r:id="rId9"/>
    <p:sldId id="265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06B6B-DA0A-9A44-A47C-32799710A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DE45EC-8DD7-AF4E-A307-1DADBC3F0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4FA955-04A9-934E-9E58-1FE1F0E98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8AD-A015-A54B-AE89-4415BFBFE0C9}" type="datetimeFigureOut">
              <a:rPr lang="es-ES_tradnl" smtClean="0"/>
              <a:t>9/11/20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CAB3F0-C6B4-D74E-817B-2488E3669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A8D8AF-E32E-374B-ABF8-7B13D2C53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8D-3E9B-7940-A5A6-FAE8843FFA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3051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4F019-C4C2-E54E-A4EB-E1C53E68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787459-66CF-C64A-832F-6A2F94EE2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4E19F8-A493-0147-8255-7914AB9DA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8AD-A015-A54B-AE89-4415BFBFE0C9}" type="datetimeFigureOut">
              <a:rPr lang="es-ES_tradnl" smtClean="0"/>
              <a:t>9/11/20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BBC6AD-3E4E-8443-A681-F35EE88B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307255-3786-3344-8153-72B5426DB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8D-3E9B-7940-A5A6-FAE8843FFA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3787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63ABE-B883-0640-B9C4-189DB0B79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D498D0-FA14-A44C-9433-AF383710B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6C5779-2D88-9240-B645-C5A5E3F87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8AD-A015-A54B-AE89-4415BFBFE0C9}" type="datetimeFigureOut">
              <a:rPr lang="es-ES_tradnl" smtClean="0"/>
              <a:t>9/11/20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D67A21-0940-514E-AE54-45C57DD58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494C16-CD9A-FF45-89F3-FD3AEB963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8D-3E9B-7940-A5A6-FAE8843FFA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1554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7AAB3-C99B-EA40-8337-B3842753E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E9FC88-36DB-9E45-AA37-CC869FD51C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D3F27-6CB6-E542-BC35-0329A918B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C790DC-C405-994B-9AE9-7B6FBABAF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8AD-A015-A54B-AE89-4415BFBFE0C9}" type="datetimeFigureOut">
              <a:rPr lang="es-ES_tradnl" smtClean="0"/>
              <a:t>9/11/20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B79E33-FEF2-F248-BAC2-0B6C04E2C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4080A1-46CE-DE4F-A058-98E3C1F13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8D-3E9B-7940-A5A6-FAE8843FFA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02223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48AC83-9F64-E447-8FB3-EDCE21779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C2C5ED-9007-174D-B2F2-72B5192B1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1A8A14-B1F2-F543-91F2-19EE7F8D3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1833E2E-6D0C-9E40-99CF-5B4738945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EB99D6C-AFA2-BE40-AACE-CE3562CF9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6BC2590-F6C8-8C49-BBEC-F2F0E8376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8AD-A015-A54B-AE89-4415BFBFE0C9}" type="datetimeFigureOut">
              <a:rPr lang="es-ES_tradnl" smtClean="0"/>
              <a:t>9/11/20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40E2321-AA42-844F-9305-5773626B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6BC848-AF4E-5747-8F63-DB9B1EB3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8D-3E9B-7940-A5A6-FAE8843FFA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4472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61902-82FA-434D-9CA6-FA1C8B9AB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E88D08-9854-5D4C-BEBC-128DF3B9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8AD-A015-A54B-AE89-4415BFBFE0C9}" type="datetimeFigureOut">
              <a:rPr lang="es-ES_tradnl" smtClean="0"/>
              <a:t>9/11/20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7A625E8-903D-1249-B15D-5DD917EB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C32BBCF-4C59-0B41-8E23-C247667F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8D-3E9B-7940-A5A6-FAE8843FFA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1203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F861DCC-4C50-EF48-BCF3-D458A2024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8AD-A015-A54B-AE89-4415BFBFE0C9}" type="datetimeFigureOut">
              <a:rPr lang="es-ES_tradnl" smtClean="0"/>
              <a:t>9/11/20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2CBE574-0E64-464B-9CE1-19DDD3AA4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FF6A18-B265-7A46-9201-E04B7A6B3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8D-3E9B-7940-A5A6-FAE8843FFA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55189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FFB2B-44E5-F543-8140-1A0CCC02F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192655-A62A-4E46-B578-87887897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2A7017-1850-3F40-99C2-AB46C5B03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5AFDF4-5ADE-1944-8899-26CA076AE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8AD-A015-A54B-AE89-4415BFBFE0C9}" type="datetimeFigureOut">
              <a:rPr lang="es-ES_tradnl" smtClean="0"/>
              <a:t>9/11/20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6E49CD-6D50-2B41-A330-FE498C3D4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8413A1-FA3F-614B-BBA6-B6BD62EB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8D-3E9B-7940-A5A6-FAE8843FFA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16038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2A329-658B-8843-BCF6-32DFD874B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51FFE95-B515-6946-B1A5-733B1914DF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32B9A5-8F5D-DA49-9A81-5D80FEB30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5A661-463D-DE47-AA60-EBB0315A7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8AD-A015-A54B-AE89-4415BFBFE0C9}" type="datetimeFigureOut">
              <a:rPr lang="es-ES_tradnl" smtClean="0"/>
              <a:t>9/11/20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419AC8-46F7-A748-A993-BA10E098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8AD49D-8FB0-F247-A518-C288C75A2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8D-3E9B-7940-A5A6-FAE8843FFA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3044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40C34-72EC-8F40-8671-4627F3A24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C500D9-35AB-4A41-9820-ED5F0A6FD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6651EB-D9B5-2348-BD6E-5B02E3C61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8AD-A015-A54B-AE89-4415BFBFE0C9}" type="datetimeFigureOut">
              <a:rPr lang="es-ES_tradnl" smtClean="0"/>
              <a:t>9/11/20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0CEF89-45B4-EF41-ADDC-FA31B9A73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36D7A1-94D7-F44D-AFED-EAF22B2A5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8D-3E9B-7940-A5A6-FAE8843FFA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77345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8CEE0D-74E7-3045-9186-EADBD83EB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2066F6-CC3F-514D-8344-A9C5698B9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657C18-7936-5A47-8AF6-41DCDEDF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8AD-A015-A54B-AE89-4415BFBFE0C9}" type="datetimeFigureOut">
              <a:rPr lang="es-ES_tradnl" smtClean="0"/>
              <a:t>9/11/20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9E81F2-430A-FE43-AB8D-3CAA8E8D8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F5293A-A292-9545-A6FD-93FE04EA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FDB8D-3E9B-7940-A5A6-FAE8843FFA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7403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B1713DE-3D6E-174C-9D8A-7B8DBECB6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64BA14-E211-014F-8458-44FFADD09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03F74A-6198-994C-B6B2-02DB606BF1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E38AD-A015-A54B-AE89-4415BFBFE0C9}" type="datetimeFigureOut">
              <a:rPr lang="es-ES_tradnl" smtClean="0"/>
              <a:t>9/11/20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FB751B-C186-7E47-8267-94CDB76DB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B36A48-ADAB-084E-B3A8-B8FDBE979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FDB8D-3E9B-7940-A5A6-FAE8843FFA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257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astebin.com/raw/qASBCxfu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B286E-2AA1-7541-BDB8-2008CAB24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dirty="0">
                <a:solidFill>
                  <a:srgbClr val="0070C0"/>
                </a:solidFill>
              </a:rPr>
              <a:t>Análisis de Código Fuente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34D9D2-615F-B246-8A75-E2F4E0539B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_tradnl" b="1" dirty="0"/>
          </a:p>
          <a:p>
            <a:r>
              <a:rPr lang="es-ES_tradnl" b="1" dirty="0"/>
              <a:t>Máquina virtual y herramientas</a:t>
            </a:r>
          </a:p>
        </p:txBody>
      </p:sp>
    </p:spTree>
    <p:extLst>
      <p:ext uri="{BB962C8B-B14F-4D97-AF65-F5344CB8AC3E}">
        <p14:creationId xmlns:p14="http://schemas.microsoft.com/office/powerpoint/2010/main" val="367534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CA47E-5BAD-7540-AD21-A039DBE9B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rgbClr val="0070C0"/>
                </a:solidFill>
              </a:rPr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661061-1B14-B44D-A1BA-BD1770050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El eje central de la materia es el estudio del </a:t>
            </a:r>
            <a:r>
              <a:rPr lang="es-ES_tradnl" b="1" dirty="0"/>
              <a:t>código fuente</a:t>
            </a:r>
            <a:r>
              <a:rPr lang="es-ES_tradnl" dirty="0"/>
              <a:t>, por lo que no se dispone de tantas herramientas como necesita y posee el </a:t>
            </a:r>
            <a:r>
              <a:rPr lang="es-ES_tradnl" b="1" dirty="0"/>
              <a:t>análisis dinámico o estático</a:t>
            </a:r>
            <a:r>
              <a:rPr lang="es-ES_tradnl" dirty="0"/>
              <a:t>.</a:t>
            </a:r>
          </a:p>
          <a:p>
            <a:r>
              <a:rPr lang="es-ES_tradnl" dirty="0"/>
              <a:t>No obstante, dado que la principal característica es indexar, buscar e interrelacionar símbolos en el código, las mismas herramientas de análisis de textos pueden ser usadas.</a:t>
            </a:r>
          </a:p>
          <a:p>
            <a:r>
              <a:rPr lang="es-ES_tradnl" dirty="0"/>
              <a:t>Las siguientes instrucciones están pensadas para crear un ambiente mínimo de análisis. Un pequeño laboratorio con el juego de herramientas mínima para comenzar.</a:t>
            </a:r>
          </a:p>
        </p:txBody>
      </p:sp>
    </p:spTree>
    <p:extLst>
      <p:ext uri="{BB962C8B-B14F-4D97-AF65-F5344CB8AC3E}">
        <p14:creationId xmlns:p14="http://schemas.microsoft.com/office/powerpoint/2010/main" val="3637241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6762C-D023-574D-AB0C-107F76B01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rgbClr val="0070C0"/>
                </a:solidFill>
              </a:rPr>
              <a:t>Máquina virtual y sistema huésped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7A65A0-8F8E-B34C-AA5B-8A1243613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 err="1"/>
              <a:t>VirtualBox</a:t>
            </a:r>
            <a:endParaRPr lang="es-ES_tradnl" dirty="0"/>
          </a:p>
          <a:p>
            <a:r>
              <a:rPr lang="es-ES_tradnl" dirty="0"/>
              <a:t>Ubuntu Linux 20.10</a:t>
            </a:r>
          </a:p>
          <a:p>
            <a:r>
              <a:rPr lang="es-ES_tradnl" dirty="0"/>
              <a:t>Recomendable: instalar las </a:t>
            </a:r>
            <a:r>
              <a:rPr lang="es-ES_tradnl" b="1" dirty="0" err="1"/>
              <a:t>guest</a:t>
            </a:r>
            <a:r>
              <a:rPr lang="es-ES_tradnl" b="1" dirty="0"/>
              <a:t> </a:t>
            </a:r>
            <a:r>
              <a:rPr lang="es-ES_tradnl" b="1" dirty="0" err="1"/>
              <a:t>additions</a:t>
            </a:r>
            <a:r>
              <a:rPr lang="es-ES_tradnl" b="1" dirty="0"/>
              <a:t> </a:t>
            </a:r>
            <a:r>
              <a:rPr lang="es-ES_tradnl" dirty="0"/>
              <a:t>y activar el modo </a:t>
            </a:r>
            <a:r>
              <a:rPr lang="es-ES_tradnl" b="1" dirty="0"/>
              <a:t>bidireccional</a:t>
            </a:r>
            <a:r>
              <a:rPr lang="es-ES_tradnl" dirty="0"/>
              <a:t> de </a:t>
            </a:r>
            <a:r>
              <a:rPr lang="es-ES_tradnl" b="1" dirty="0"/>
              <a:t>portapapeles</a:t>
            </a:r>
            <a:r>
              <a:rPr lang="es-ES_tradnl" dirty="0"/>
              <a:t> y </a:t>
            </a:r>
            <a:r>
              <a:rPr lang="es-ES_tradnl" b="1" dirty="0" err="1"/>
              <a:t>drag</a:t>
            </a:r>
            <a:r>
              <a:rPr lang="es-ES_tradnl" b="1" dirty="0"/>
              <a:t> and </a:t>
            </a:r>
            <a:r>
              <a:rPr lang="es-ES_tradnl" b="1" dirty="0" err="1"/>
              <a:t>drop</a:t>
            </a:r>
            <a:r>
              <a:rPr lang="es-ES_tradnl" dirty="0"/>
              <a:t>. (Menú “</a:t>
            </a:r>
            <a:r>
              <a:rPr lang="es-ES_tradnl" dirty="0" err="1"/>
              <a:t>devices</a:t>
            </a:r>
            <a:r>
              <a:rPr lang="es-ES_tradnl" dirty="0"/>
              <a:t>”)</a:t>
            </a:r>
          </a:p>
          <a:p>
            <a:endParaRPr lang="es-ES_tradnl" dirty="0"/>
          </a:p>
          <a:p>
            <a:r>
              <a:rPr lang="es-ES_tradnl" dirty="0">
                <a:solidFill>
                  <a:srgbClr val="FF0000"/>
                </a:solidFill>
              </a:rPr>
              <a:t>No es recomendable usar una máquina distinta a esta, con 10-15 Gb de disco virtual es suficiente</a:t>
            </a:r>
            <a:r>
              <a:rPr lang="es-ES_tradnl" dirty="0"/>
              <a:t>.</a:t>
            </a:r>
          </a:p>
          <a:p>
            <a:r>
              <a:rPr lang="es-ES_tradnl" dirty="0">
                <a:solidFill>
                  <a:srgbClr val="FF0000"/>
                </a:solidFill>
              </a:rPr>
              <a:t>Es posible que usando una versión de Ubuntu distinta (u otra distro), algunos paquetes no se instalen o no funcionen.</a:t>
            </a:r>
          </a:p>
        </p:txBody>
      </p:sp>
    </p:spTree>
    <p:extLst>
      <p:ext uri="{BB962C8B-B14F-4D97-AF65-F5344CB8AC3E}">
        <p14:creationId xmlns:p14="http://schemas.microsoft.com/office/powerpoint/2010/main" val="1441573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68880F-3345-BB42-9C27-C26CAF77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rgbClr val="0070C0"/>
                </a:solidFill>
              </a:rPr>
              <a:t>Instalación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FEAF36-2773-A844-8E89-D1822FB1B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A continuación se detallan unos pasos para crear un entorno de trabajo que conllevará la instalación de varias herramientas.</a:t>
            </a:r>
          </a:p>
          <a:p>
            <a:endParaRPr lang="es-ES_tradnl" dirty="0"/>
          </a:p>
          <a:p>
            <a:r>
              <a:rPr lang="es-ES_tradnl" dirty="0"/>
              <a:t>Respecto al </a:t>
            </a:r>
            <a:r>
              <a:rPr lang="es-ES_tradnl" b="1" dirty="0"/>
              <a:t>editor de código</a:t>
            </a:r>
            <a:r>
              <a:rPr lang="es-ES_tradnl" dirty="0"/>
              <a:t>, imprescindible para realizar los análisis de forma cómoda: </a:t>
            </a:r>
            <a:r>
              <a:rPr lang="es-ES_tradnl" b="1" dirty="0"/>
              <a:t>Elegid e instalad aquel con el que os sintáis más cómodos: </a:t>
            </a:r>
            <a:r>
              <a:rPr lang="es-ES_tradnl" dirty="0"/>
              <a:t>Visual Studio </a:t>
            </a:r>
            <a:r>
              <a:rPr lang="es-ES_tradnl" dirty="0" err="1"/>
              <a:t>Code</a:t>
            </a:r>
            <a:r>
              <a:rPr lang="es-ES_tradnl" dirty="0"/>
              <a:t>, </a:t>
            </a:r>
            <a:r>
              <a:rPr lang="es-ES_tradnl" dirty="0" err="1"/>
              <a:t>Vim</a:t>
            </a:r>
            <a:r>
              <a:rPr lang="es-ES_tradnl" dirty="0"/>
              <a:t>, </a:t>
            </a:r>
            <a:r>
              <a:rPr lang="es-ES_tradnl" dirty="0" err="1"/>
              <a:t>Emacs</a:t>
            </a:r>
            <a:r>
              <a:rPr lang="es-ES_tradnl" dirty="0"/>
              <a:t>, Nano, </a:t>
            </a:r>
            <a:r>
              <a:rPr lang="es-ES_tradnl" dirty="0" err="1"/>
              <a:t>Geany</a:t>
            </a:r>
            <a:r>
              <a:rPr lang="es-ES_tradnl" dirty="0"/>
              <a:t>, </a:t>
            </a:r>
            <a:r>
              <a:rPr lang="es-ES_tradnl" dirty="0" err="1"/>
              <a:t>Gedit</a:t>
            </a:r>
            <a:r>
              <a:rPr lang="es-ES_tradnl" dirty="0"/>
              <a:t>, etc.  </a:t>
            </a:r>
          </a:p>
          <a:p>
            <a:endParaRPr lang="es-ES_tradnl" dirty="0"/>
          </a:p>
          <a:p>
            <a:pPr marL="0" indent="0"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38287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E0BF272-B5CE-E142-AF1E-785B39EF61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014" y="306731"/>
            <a:ext cx="7467386" cy="632723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E725197-E4EF-F249-B67C-D52E5023AF50}"/>
              </a:ext>
            </a:extLst>
          </p:cNvPr>
          <p:cNvSpPr txBox="1"/>
          <p:nvPr/>
        </p:nvSpPr>
        <p:spPr>
          <a:xfrm>
            <a:off x="8130532" y="1019300"/>
            <a:ext cx="37564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Abrid un editor de textos desde la terminar (o bajáis el archivo con ‘</a:t>
            </a:r>
            <a:r>
              <a:rPr lang="es-ES_tradnl" dirty="0" err="1"/>
              <a:t>wget</a:t>
            </a:r>
            <a:r>
              <a:rPr lang="es-ES_tradnl" dirty="0"/>
              <a:t>’) o desde las aplicaciones.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8DCD9C2-5FF6-0046-8EFF-661943AA115E}"/>
              </a:ext>
            </a:extLst>
          </p:cNvPr>
          <p:cNvSpPr txBox="1"/>
          <p:nvPr/>
        </p:nvSpPr>
        <p:spPr>
          <a:xfrm>
            <a:off x="8130532" y="2536448"/>
            <a:ext cx="343517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En la URL: </a:t>
            </a:r>
          </a:p>
          <a:p>
            <a:endParaRPr lang="es-ES_tradnl" sz="1600" dirty="0">
              <a:hlinkClick r:id="rId3"/>
            </a:endParaRPr>
          </a:p>
          <a:p>
            <a:r>
              <a:rPr lang="es-ES_tradnl" sz="1600" dirty="0">
                <a:hlinkClick r:id="rId3"/>
              </a:rPr>
              <a:t>https://pastebin.com/raw/qASBCxfu</a:t>
            </a:r>
            <a:endParaRPr lang="es-ES_tradnl" sz="1600" dirty="0"/>
          </a:p>
          <a:p>
            <a:endParaRPr lang="es-ES_tradnl" sz="2000" dirty="0"/>
          </a:p>
          <a:p>
            <a:r>
              <a:rPr lang="es-ES_tradnl" sz="2000" dirty="0"/>
              <a:t>Disponéis de un script de instalación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9BF4391-1C23-CF46-A4A2-4F1C8637A0F5}"/>
              </a:ext>
            </a:extLst>
          </p:cNvPr>
          <p:cNvSpPr txBox="1"/>
          <p:nvPr/>
        </p:nvSpPr>
        <p:spPr>
          <a:xfrm>
            <a:off x="8130532" y="4915370"/>
            <a:ext cx="3435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Pegad el contenido en el editor y guardad con el nombre “</a:t>
            </a:r>
            <a:r>
              <a:rPr lang="es-ES_tradnl" b="1" dirty="0" err="1"/>
              <a:t>mrev.sh</a:t>
            </a:r>
            <a:r>
              <a:rPr lang="es-ES_tradnl" dirty="0"/>
              <a:t>”</a:t>
            </a:r>
            <a:endParaRPr lang="es-ES_tradnl" sz="1600" dirty="0"/>
          </a:p>
        </p:txBody>
      </p:sp>
    </p:spTree>
    <p:extLst>
      <p:ext uri="{BB962C8B-B14F-4D97-AF65-F5344CB8AC3E}">
        <p14:creationId xmlns:p14="http://schemas.microsoft.com/office/powerpoint/2010/main" val="60710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69BF4391-1C23-CF46-A4A2-4F1C8637A0F5}"/>
              </a:ext>
            </a:extLst>
          </p:cNvPr>
          <p:cNvSpPr txBox="1"/>
          <p:nvPr/>
        </p:nvSpPr>
        <p:spPr>
          <a:xfrm>
            <a:off x="8291170" y="1632805"/>
            <a:ext cx="34351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Guardad el archivo en vuestro directorio y abrid un terminal allí o bien si ya lo teníais abierto, cerráis el editor y verificad que estáis allí.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4FE299A-1E02-C241-90B3-53B865905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69" y="1043117"/>
            <a:ext cx="7594998" cy="506547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BE41813-6AE0-D342-99F8-43B7A53257D8}"/>
              </a:ext>
            </a:extLst>
          </p:cNvPr>
          <p:cNvSpPr txBox="1"/>
          <p:nvPr/>
        </p:nvSpPr>
        <p:spPr>
          <a:xfrm>
            <a:off x="8291170" y="3575853"/>
            <a:ext cx="34351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Si no estáis en vuestro directorio una forma sencilla de llegar a él es ejecutando en el terminal:</a:t>
            </a:r>
          </a:p>
          <a:p>
            <a:endParaRPr lang="es-ES_tradnl" dirty="0"/>
          </a:p>
          <a:p>
            <a:r>
              <a:rPr lang="es-ES_tradnl" b="1" dirty="0"/>
              <a:t>cd ~</a:t>
            </a:r>
          </a:p>
        </p:txBody>
      </p:sp>
    </p:spTree>
    <p:extLst>
      <p:ext uri="{BB962C8B-B14F-4D97-AF65-F5344CB8AC3E}">
        <p14:creationId xmlns:p14="http://schemas.microsoft.com/office/powerpoint/2010/main" val="934380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69BF4391-1C23-CF46-A4A2-4F1C8637A0F5}"/>
              </a:ext>
            </a:extLst>
          </p:cNvPr>
          <p:cNvSpPr txBox="1"/>
          <p:nvPr/>
        </p:nvSpPr>
        <p:spPr>
          <a:xfrm>
            <a:off x="8354529" y="1544150"/>
            <a:ext cx="34351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Otorgad permisos de ejecución con:</a:t>
            </a:r>
          </a:p>
          <a:p>
            <a:endParaRPr lang="es-ES_tradnl" dirty="0"/>
          </a:p>
          <a:p>
            <a:r>
              <a:rPr lang="es-ES_tradnl" b="1" dirty="0" err="1"/>
              <a:t>chmod</a:t>
            </a:r>
            <a:r>
              <a:rPr lang="es-ES_tradnl" b="1" dirty="0"/>
              <a:t> +x </a:t>
            </a:r>
            <a:r>
              <a:rPr lang="es-ES_tradnl" b="1" dirty="0" err="1"/>
              <a:t>mrev.sh</a:t>
            </a:r>
            <a:endParaRPr lang="es-ES_tradnl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BE41813-6AE0-D342-99F8-43B7A53257D8}"/>
              </a:ext>
            </a:extLst>
          </p:cNvPr>
          <p:cNvSpPr txBox="1"/>
          <p:nvPr/>
        </p:nvSpPr>
        <p:spPr>
          <a:xfrm>
            <a:off x="8291170" y="3796570"/>
            <a:ext cx="34351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A continuación, ejecutad el script con:</a:t>
            </a:r>
          </a:p>
          <a:p>
            <a:endParaRPr lang="es-ES_tradnl" b="1" dirty="0"/>
          </a:p>
          <a:p>
            <a:r>
              <a:rPr lang="es-ES_tradnl" b="1" dirty="0"/>
              <a:t>sudo ./</a:t>
            </a:r>
            <a:r>
              <a:rPr lang="es-ES_tradnl" b="1" dirty="0" err="1"/>
              <a:t>mrev.sh</a:t>
            </a:r>
            <a:r>
              <a:rPr lang="es-ES_tradnl" b="1" dirty="0"/>
              <a:t>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7D965A1-6406-344C-B2E7-18821F8B5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89" y="1544150"/>
            <a:ext cx="7155102" cy="104139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10AB1AC-8129-0947-8BDE-363CA2F6F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89" y="3745405"/>
            <a:ext cx="7094483" cy="129426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9A72CD1-A43E-024E-8F51-7AC7763DD86E}"/>
              </a:ext>
            </a:extLst>
          </p:cNvPr>
          <p:cNvSpPr txBox="1"/>
          <p:nvPr/>
        </p:nvSpPr>
        <p:spPr>
          <a:xfrm>
            <a:off x="2052145" y="6199529"/>
            <a:ext cx="8087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La instalación de todos los paquetes, </a:t>
            </a:r>
            <a:r>
              <a:rPr lang="es-ES_tradnl" b="1" dirty="0" err="1"/>
              <a:t>Sourcetrail</a:t>
            </a:r>
            <a:r>
              <a:rPr lang="es-ES_tradnl" b="1" dirty="0"/>
              <a:t> y </a:t>
            </a:r>
            <a:r>
              <a:rPr lang="es-ES_tradnl" b="1" dirty="0" err="1"/>
              <a:t>Ghidra</a:t>
            </a:r>
            <a:r>
              <a:rPr lang="es-ES_tradnl" b="1" dirty="0"/>
              <a:t> tardará varios minutos</a:t>
            </a:r>
          </a:p>
        </p:txBody>
      </p:sp>
    </p:spTree>
    <p:extLst>
      <p:ext uri="{BB962C8B-B14F-4D97-AF65-F5344CB8AC3E}">
        <p14:creationId xmlns:p14="http://schemas.microsoft.com/office/powerpoint/2010/main" val="2981959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4CA5D-D01E-4E49-BEFE-81B6C1D13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rgbClr val="0070C0"/>
                </a:solidFill>
              </a:rPr>
              <a:t>Herramientas instaladas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003C01-AEE1-224B-AA19-F093CA2AB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 err="1"/>
              <a:t>gcc</a:t>
            </a:r>
            <a:r>
              <a:rPr lang="es-ES_tradnl" dirty="0"/>
              <a:t>, </a:t>
            </a:r>
            <a:r>
              <a:rPr lang="es-ES_tradnl" dirty="0" err="1"/>
              <a:t>gdb</a:t>
            </a:r>
            <a:r>
              <a:rPr lang="es-ES_tradnl" dirty="0"/>
              <a:t>, </a:t>
            </a:r>
            <a:r>
              <a:rPr lang="es-ES_tradnl" dirty="0" err="1"/>
              <a:t>readelf</a:t>
            </a:r>
            <a:r>
              <a:rPr lang="es-ES_tradnl" dirty="0"/>
              <a:t>, </a:t>
            </a:r>
            <a:r>
              <a:rPr lang="es-ES_tradnl" dirty="0" err="1"/>
              <a:t>nm</a:t>
            </a:r>
            <a:r>
              <a:rPr lang="es-ES_tradnl" dirty="0"/>
              <a:t>, </a:t>
            </a:r>
            <a:r>
              <a:rPr lang="es-ES_tradnl" dirty="0" err="1"/>
              <a:t>objdump</a:t>
            </a:r>
            <a:endParaRPr lang="es-ES_tradnl" dirty="0"/>
          </a:p>
          <a:p>
            <a:r>
              <a:rPr lang="es-ES_tradnl" dirty="0" err="1"/>
              <a:t>ripgrep</a:t>
            </a:r>
            <a:r>
              <a:rPr lang="es-ES_tradnl" dirty="0"/>
              <a:t> (</a:t>
            </a:r>
            <a:r>
              <a:rPr lang="es-ES_tradnl" dirty="0" err="1">
                <a:solidFill>
                  <a:srgbClr val="FF0000"/>
                </a:solidFill>
              </a:rPr>
              <a:t>rg</a:t>
            </a:r>
            <a:r>
              <a:rPr lang="es-ES_tradnl" dirty="0"/>
              <a:t>), </a:t>
            </a:r>
            <a:r>
              <a:rPr lang="es-ES_tradnl" dirty="0" err="1"/>
              <a:t>fd-find</a:t>
            </a:r>
            <a:r>
              <a:rPr lang="es-ES_tradnl" dirty="0"/>
              <a:t> (</a:t>
            </a:r>
            <a:r>
              <a:rPr lang="es-ES_tradnl" dirty="0" err="1">
                <a:solidFill>
                  <a:srgbClr val="FF0000"/>
                </a:solidFill>
              </a:rPr>
              <a:t>fd</a:t>
            </a:r>
            <a:r>
              <a:rPr lang="es-ES_tradnl" dirty="0"/>
              <a:t>)</a:t>
            </a:r>
          </a:p>
          <a:p>
            <a:r>
              <a:rPr lang="es-ES_tradnl" dirty="0" err="1"/>
              <a:t>Git</a:t>
            </a:r>
            <a:r>
              <a:rPr lang="es-ES_tradnl" dirty="0"/>
              <a:t>, </a:t>
            </a:r>
            <a:r>
              <a:rPr lang="es-ES_tradnl" dirty="0" err="1"/>
              <a:t>curl</a:t>
            </a:r>
            <a:endParaRPr lang="es-ES_tradnl" dirty="0"/>
          </a:p>
          <a:p>
            <a:r>
              <a:rPr lang="es-ES_tradnl" dirty="0" err="1"/>
              <a:t>Ctags</a:t>
            </a:r>
            <a:r>
              <a:rPr lang="es-ES_tradnl" dirty="0"/>
              <a:t>, global, </a:t>
            </a:r>
            <a:r>
              <a:rPr lang="es-ES_tradnl" dirty="0" err="1"/>
              <a:t>cscope</a:t>
            </a:r>
            <a:r>
              <a:rPr lang="es-ES_tradnl" dirty="0"/>
              <a:t>, </a:t>
            </a:r>
            <a:r>
              <a:rPr lang="es-ES_tradnl" dirty="0" err="1"/>
              <a:t>codequery</a:t>
            </a:r>
            <a:r>
              <a:rPr lang="es-ES_tradnl" dirty="0"/>
              <a:t>, </a:t>
            </a:r>
            <a:r>
              <a:rPr lang="es-ES_tradnl" dirty="0" err="1"/>
              <a:t>Sourcetrail</a:t>
            </a:r>
            <a:endParaRPr lang="es-ES_tradnl" dirty="0"/>
          </a:p>
          <a:p>
            <a:r>
              <a:rPr lang="es-ES_tradnl" dirty="0" err="1"/>
              <a:t>Ghidra</a:t>
            </a:r>
            <a:r>
              <a:rPr lang="es-ES_tradnl" dirty="0"/>
              <a:t>, radare2, </a:t>
            </a:r>
            <a:r>
              <a:rPr lang="es-ES_tradnl" dirty="0" err="1"/>
              <a:t>cutter</a:t>
            </a:r>
            <a:r>
              <a:rPr lang="es-ES_tradnl" dirty="0"/>
              <a:t>, </a:t>
            </a:r>
            <a:r>
              <a:rPr lang="es-ES_tradnl" dirty="0" err="1"/>
              <a:t>apktool</a:t>
            </a:r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50488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4CA5D-D01E-4E49-BEFE-81B6C1D13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801"/>
            <a:ext cx="10515600" cy="1325563"/>
          </a:xfrm>
        </p:spPr>
        <p:txBody>
          <a:bodyPr/>
          <a:lstStyle/>
          <a:p>
            <a:r>
              <a:rPr lang="es-ES_tradnl" dirty="0">
                <a:solidFill>
                  <a:srgbClr val="0070C0"/>
                </a:solidFill>
              </a:rPr>
              <a:t>Ejecutando </a:t>
            </a:r>
            <a:r>
              <a:rPr lang="es-ES_tradnl" dirty="0" err="1">
                <a:solidFill>
                  <a:srgbClr val="0070C0"/>
                </a:solidFill>
              </a:rPr>
              <a:t>Ghidra</a:t>
            </a:r>
            <a:endParaRPr lang="es-ES_tradnl" dirty="0">
              <a:solidFill>
                <a:srgbClr val="0070C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003C01-AEE1-224B-AA19-F093CA2A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0642" y="1277403"/>
            <a:ext cx="3639207" cy="4820575"/>
          </a:xfrm>
        </p:spPr>
        <p:txBody>
          <a:bodyPr/>
          <a:lstStyle/>
          <a:p>
            <a:r>
              <a:rPr lang="es-ES_tradnl" dirty="0" err="1"/>
              <a:t>Ghidra</a:t>
            </a:r>
            <a:r>
              <a:rPr lang="es-ES_tradnl" dirty="0"/>
              <a:t> es una aplicación Java</a:t>
            </a:r>
          </a:p>
          <a:p>
            <a:endParaRPr lang="es-ES_tradnl" dirty="0"/>
          </a:p>
          <a:p>
            <a:r>
              <a:rPr lang="es-ES_tradnl" dirty="0"/>
              <a:t>Para ejecutarla, si habéis seguido las instrucciones, deberéis entrar en el directorio “</a:t>
            </a:r>
            <a:r>
              <a:rPr lang="es-ES_tradnl" dirty="0" err="1"/>
              <a:t>ghidra</a:t>
            </a:r>
            <a:r>
              <a:rPr lang="es-ES_tradnl" dirty="0"/>
              <a:t>” y ejecutar “./</a:t>
            </a:r>
            <a:r>
              <a:rPr lang="es-ES_tradnl" dirty="0" err="1"/>
              <a:t>ghidraRun</a:t>
            </a:r>
            <a:r>
              <a:rPr lang="es-ES_tradnl" dirty="0"/>
              <a:t>”</a:t>
            </a:r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91B8AA-A704-0247-AE94-903905B4D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24" y="1277403"/>
            <a:ext cx="7052442" cy="515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239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445</Words>
  <Application>Microsoft Macintosh PowerPoint</Application>
  <PresentationFormat>Panorámica</PresentationFormat>
  <Paragraphs>48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Análisis de Código Fuente</vt:lpstr>
      <vt:lpstr>Introducción</vt:lpstr>
      <vt:lpstr>Máquina virtual y sistema huésped</vt:lpstr>
      <vt:lpstr>Instalación</vt:lpstr>
      <vt:lpstr>Presentación de PowerPoint</vt:lpstr>
      <vt:lpstr>Presentación de PowerPoint</vt:lpstr>
      <vt:lpstr>Presentación de PowerPoint</vt:lpstr>
      <vt:lpstr>Herramientas instaladas</vt:lpstr>
      <vt:lpstr>Ejecutando Ghidra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Código Fuente</dc:title>
  <dc:creator>DAVID GARCIA NUÑEZ</dc:creator>
  <cp:lastModifiedBy>DAVID GARCIA NUÑEZ</cp:lastModifiedBy>
  <cp:revision>20</cp:revision>
  <dcterms:created xsi:type="dcterms:W3CDTF">2020-11-09T20:58:25Z</dcterms:created>
  <dcterms:modified xsi:type="dcterms:W3CDTF">2020-11-09T21:47:04Z</dcterms:modified>
</cp:coreProperties>
</file>